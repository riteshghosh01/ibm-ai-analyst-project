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188720"/>
            <a:ext cx="4754880" cy="4754880"/>
          </a:xfrm>
          <a:prstGeom prst="ellipse">
            <a:avLst/>
          </a:prstGeom>
          <a:solidFill>
            <a:srgbClr val="8F352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365760"/>
            <a:ext cx="3108960" cy="3108960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ASSISTANT  •  MBA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 AI Chatbot for Foodie's Restaurant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Designing, building and deploying a conversational assistant on IBM Cloud, then embedding it live inside a working restaurant website.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Dipanshu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577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MBA, Mittal School of Business — Lovely Professional University  |  Reg. No. 12508450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556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482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Foodie's Restaurant needed a virtual assistant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502920" cy="502920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34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272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watsonx-powered chatbot embedded on the website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502920" cy="502920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136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06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Assistant, dialog skills and web integration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020056"/>
            <a:ext cx="502920" cy="502920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9926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285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user message becomes a bot response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783080"/>
            <a:ext cx="502920" cy="502920"/>
          </a:xfrm>
          <a:prstGeom prst="ellipse">
            <a:avLst/>
          </a:prstGeom>
          <a:solidFill>
            <a:srgbClr val="1C1F2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17556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Integration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0482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the widget into the live Foodie site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862072"/>
            <a:ext cx="502920" cy="502920"/>
          </a:xfrm>
          <a:prstGeom prst="ellipse">
            <a:avLst/>
          </a:prstGeom>
          <a:solidFill>
            <a:srgbClr val="1C1F2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2834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31272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prices, table booking, delivery and location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941064"/>
            <a:ext cx="502920" cy="502920"/>
          </a:xfrm>
          <a:prstGeom prst="ellipse">
            <a:avLst/>
          </a:prstGeom>
          <a:solidFill>
            <a:srgbClr val="1C1F2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6364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39136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Learnings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4206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was challenging, what's next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Restaurant Chatbot  |  IBM watsonx Assistant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Guests Had Too Many Questions, Too Few Instant Answers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websites are built to showcase food — not to hold a conversation. Foodie's Restaurant needed a way to answer common guest questions instantly, at any hour, without a staff member on standby.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926080"/>
            <a:ext cx="640080" cy="640080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After-Hours Support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434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browsing the menu at night had no way to ask about prices, hours, or bookings until staff were back online.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0248" y="260604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2926080"/>
            <a:ext cx="640080" cy="640080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44568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37490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Manual Queries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43434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spent time answering the same questions — menu, pricing, delivery, location — that a script could handle.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91856" y="260604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66176" y="2926080"/>
            <a:ext cx="640080" cy="640080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66176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37490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in Table Booking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66176" y="43434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Reserving a table meant a phone call or a separate form, adding steps between interest and a confirmed visit.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Restaurant Chatbot  |  IBM watsonx Assistant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Conversational Assistant, Built and Embedded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1C1F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922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virtual host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08483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widget available on every page of the Foodie website, day or night.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1C1F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8437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IBM watsonx Assistant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3639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dialog skill on IBM Cloud handles intents and routes replies — no custom NLP pipeline required.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1C1F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8953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Guided, button-first conversations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18795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Quick-reply options (Menu, Food Prices, Table Reservation, Location) keep guests moving without typing long queries.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384048" cy="384048"/>
          </a:xfrm>
          <a:prstGeom prst="ellipse">
            <a:avLst/>
          </a:prstGeom>
          <a:solidFill>
            <a:srgbClr val="1C1F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9469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task completion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23951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“book a table” to a confirmed reservation, entirely inside the chat window.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417320"/>
            <a:ext cx="4663440" cy="5074920"/>
          </a:xfrm>
          <a:prstGeom prst="roundRect">
            <a:avLst>
              <a:gd name="adj" fmla="val 1961"/>
            </a:avLst>
          </a:prstGeom>
          <a:solidFill>
            <a:srgbClr val="1C1F2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417320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262A33"/>
          </a:solidFill>
          <a:ln/>
        </p:spPr>
      </p:sp>
      <p:sp>
        <p:nvSpPr>
          <p:cNvPr id="22" name="Shape 20"/>
          <p:cNvSpPr/>
          <p:nvPr/>
        </p:nvSpPr>
        <p:spPr>
          <a:xfrm>
            <a:off x="6903720" y="1746504"/>
            <a:ext cx="4663440" cy="128016"/>
          </a:xfrm>
          <a:prstGeom prst="rect">
            <a:avLst/>
          </a:prstGeom>
          <a:solidFill>
            <a:srgbClr val="262A3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68312" y="1417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  Assistant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1417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0024" y="2002536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11:06 PM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050024" y="2203704"/>
            <a:ext cx="4325112" cy="649224"/>
          </a:xfrm>
          <a:prstGeom prst="roundRect">
            <a:avLst>
              <a:gd name="adj" fmla="val 8451"/>
            </a:avLst>
          </a:prstGeom>
          <a:solidFill>
            <a:srgbClr val="23263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78040" y="2249424"/>
            <a:ext cx="4069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Welcome to Foodie's Restaurant!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help you with: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50024" y="2980944"/>
            <a:ext cx="4297680" cy="434340"/>
          </a:xfrm>
          <a:prstGeom prst="roundRect">
            <a:avLst>
              <a:gd name="adj" fmla="val 12632"/>
            </a:avLst>
          </a:prstGeom>
          <a:solidFill>
            <a:srgbClr val="23263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78040" y="3026664"/>
            <a:ext cx="404164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option ▾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50024" y="5852160"/>
            <a:ext cx="4370832" cy="384048"/>
          </a:xfrm>
          <a:prstGeom prst="roundRect">
            <a:avLst>
              <a:gd name="adj" fmla="val 14286"/>
            </a:avLst>
          </a:prstGeom>
          <a:solidFill>
            <a:srgbClr val="14161B"/>
          </a:solidFill>
          <a:ln w="9525">
            <a:solidFill>
              <a:srgbClr val="3538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87184" y="585216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something...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62362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IBM watsonx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Restaurant Chatbot  |  IBM watsonx Assistant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IBM Cloud, Delivered on the Web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62A3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39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Assistant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skill defining intents, entities and conversation flow, hosted and managed on IBM Cloud.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62A33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057400"/>
            <a:ext cx="548640" cy="548640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039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 Web Chat Widget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pre-built embeddable chat UI — the dark 'Assistant' panel — wired to the deployed skill.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62A33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793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377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Foodie's Restaurant website: hero, menu, story and contact pages, hosted locally for testing.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62A3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297680"/>
            <a:ext cx="548640" cy="548640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2793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Deployment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9377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7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instance is provisioned and published on IBM Cloud, ready to be embedded anywhere.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Restaurant Chatbot  |  IBM watsonx Assistant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Message Becomes a Reply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051914" cy="3246120"/>
          </a:xfrm>
          <a:prstGeom prst="roundRect">
            <a:avLst>
              <a:gd name="adj" fmla="val 3565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1281989" y="2423160"/>
            <a:ext cx="585216" cy="585216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1989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200400"/>
            <a:ext cx="17227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types or taps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886200"/>
            <a:ext cx="172273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or quick-reply is sent from the widget on the Foodie website.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600554" y="2276856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01722" y="2148840"/>
            <a:ext cx="2051914" cy="3246120"/>
          </a:xfrm>
          <a:prstGeom prst="roundRect">
            <a:avLst>
              <a:gd name="adj" fmla="val 3565"/>
            </a:avLst>
          </a:prstGeom>
          <a:solidFill>
            <a:srgbClr val="F0EEEC"/>
          </a:solidFill>
          <a:ln/>
        </p:spPr>
      </p:sp>
      <p:sp>
        <p:nvSpPr>
          <p:cNvPr id="11" name="Shape 9"/>
          <p:cNvSpPr/>
          <p:nvPr/>
        </p:nvSpPr>
        <p:spPr>
          <a:xfrm>
            <a:off x="3535070" y="2423160"/>
            <a:ext cx="585216" cy="585216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35070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966314" y="3200400"/>
            <a:ext cx="17227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Widget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66314" y="3886200"/>
            <a:ext cx="172273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embedded IBM watsonx widget forwards the input to the Assistant instance on IBM Cloud.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853635" y="2276856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54803" y="2148840"/>
            <a:ext cx="2051914" cy="3246120"/>
          </a:xfrm>
          <a:prstGeom prst="roundRect">
            <a:avLst>
              <a:gd name="adj" fmla="val 3565"/>
            </a:avLst>
          </a:prstGeom>
          <a:solidFill>
            <a:srgbClr val="F4F4F5"/>
          </a:solidFill>
          <a:ln/>
        </p:spPr>
      </p:sp>
      <p:sp>
        <p:nvSpPr>
          <p:cNvPr id="17" name="Shape 15"/>
          <p:cNvSpPr/>
          <p:nvPr/>
        </p:nvSpPr>
        <p:spPr>
          <a:xfrm>
            <a:off x="5788152" y="2423160"/>
            <a:ext cx="585216" cy="585216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88152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219395" y="3200400"/>
            <a:ext cx="17227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&amp; Entity Match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19395" y="3886200"/>
            <a:ext cx="172273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 Assistant matches the input to an intent (e.g. #book_table) and extracts entities (date, time, guests).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106717" y="2276856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07885" y="2148840"/>
            <a:ext cx="2051914" cy="3246120"/>
          </a:xfrm>
          <a:prstGeom prst="roundRect">
            <a:avLst>
              <a:gd name="adj" fmla="val 3565"/>
            </a:avLst>
          </a:prstGeom>
          <a:solidFill>
            <a:srgbClr val="F0EEEC"/>
          </a:solidFill>
          <a:ln/>
        </p:spPr>
      </p:sp>
      <p:sp>
        <p:nvSpPr>
          <p:cNvPr id="23" name="Shape 21"/>
          <p:cNvSpPr/>
          <p:nvPr/>
        </p:nvSpPr>
        <p:spPr>
          <a:xfrm>
            <a:off x="8041234" y="2423160"/>
            <a:ext cx="585216" cy="585216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1234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472477" y="3200400"/>
            <a:ext cx="17227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Skill Logic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72477" y="3886200"/>
            <a:ext cx="172273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tree walks the matched node — asking follow-up questions or firing a response.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359798" y="2276856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60966" y="2148840"/>
            <a:ext cx="2051914" cy="3246120"/>
          </a:xfrm>
          <a:prstGeom prst="roundRect">
            <a:avLst>
              <a:gd name="adj" fmla="val 3565"/>
            </a:avLst>
          </a:prstGeom>
          <a:solidFill>
            <a:srgbClr val="F4F4F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94315" y="2423160"/>
            <a:ext cx="585216" cy="585216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94315" y="24231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725558" y="3200400"/>
            <a:ext cx="17227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Rendered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725558" y="3886200"/>
            <a:ext cx="172273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streams back into the chat panel, styled as bot bubbles inside the widget.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Restaurant Chatbot  |  IBM watsonx Assistant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Live Inside the Foodie Website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DDBD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310896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796796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796796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796796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746504"/>
            <a:ext cx="3291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D8D6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17465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127.0.0.1:5500/index.html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68680" y="2002536"/>
            <a:ext cx="6995160" cy="4123944"/>
          </a:xfrm>
          <a:prstGeom prst="rect">
            <a:avLst/>
          </a:prstGeom>
          <a:solidFill>
            <a:srgbClr val="8F35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foodie.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D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D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D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D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6974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Taste the authentic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flavours of India.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D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ingredients, traditional recipes,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D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unforgettable flavours.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97280" y="46634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4663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now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06040" y="46634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606040" y="4663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table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01000" y="2148840"/>
            <a:ext cx="3246120" cy="3474720"/>
          </a:xfrm>
          <a:prstGeom prst="roundRect">
            <a:avLst>
              <a:gd name="adj" fmla="val 2817"/>
            </a:avLst>
          </a:prstGeom>
          <a:solidFill>
            <a:srgbClr val="1C1F2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01000" y="2148840"/>
            <a:ext cx="3246120" cy="457200"/>
          </a:xfrm>
          <a:prstGeom prst="roundRect">
            <a:avLst>
              <a:gd name="adj" fmla="val 20000"/>
            </a:avLst>
          </a:prstGeom>
          <a:solidFill>
            <a:srgbClr val="262A33"/>
          </a:solidFill>
          <a:ln/>
        </p:spPr>
      </p:sp>
      <p:sp>
        <p:nvSpPr>
          <p:cNvPr id="25" name="Shape 23"/>
          <p:cNvSpPr/>
          <p:nvPr/>
        </p:nvSpPr>
        <p:spPr>
          <a:xfrm>
            <a:off x="8001000" y="2478024"/>
            <a:ext cx="3246120" cy="128016"/>
          </a:xfrm>
          <a:prstGeom prst="rect">
            <a:avLst/>
          </a:prstGeom>
          <a:solidFill>
            <a:srgbClr val="262A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65592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  Assistant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83564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147304" y="2734056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11:06 PM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147304" y="2935224"/>
            <a:ext cx="2907792" cy="864108"/>
          </a:xfrm>
          <a:prstGeom prst="roundRect">
            <a:avLst>
              <a:gd name="adj" fmla="val 6349"/>
            </a:avLst>
          </a:prstGeom>
          <a:solidFill>
            <a:srgbClr val="2326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2980944"/>
            <a:ext cx="265176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Welcome to Foodie's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Restaurant! I can help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with: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476384" y="3927348"/>
            <a:ext cx="1624432" cy="434340"/>
          </a:xfrm>
          <a:prstGeom prst="roundRect">
            <a:avLst>
              <a:gd name="adj" fmla="val 12632"/>
            </a:avLst>
          </a:prstGeom>
          <a:solidFill>
            <a:srgbClr val="3A3F4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04400" y="3973068"/>
            <a:ext cx="1368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47304" y="4983480"/>
            <a:ext cx="2953512" cy="384048"/>
          </a:xfrm>
          <a:prstGeom prst="roundRect">
            <a:avLst>
              <a:gd name="adj" fmla="val 14286"/>
            </a:avLst>
          </a:prstGeom>
          <a:solidFill>
            <a:srgbClr val="14161B"/>
          </a:solidFill>
          <a:ln w="9525">
            <a:solidFill>
              <a:srgbClr val="3538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84464" y="498348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something...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001000" y="53675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IBM watsonx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1109960" y="5349240"/>
            <a:ext cx="365760" cy="365760"/>
          </a:xfrm>
          <a:prstGeom prst="ellipse">
            <a:avLst/>
          </a:prstGeom>
          <a:solidFill>
            <a:srgbClr val="1EBE6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watsonx web chat widget sits in the bottom-right corner of every page — available from the homepage hero all the way through the menu and contact pages.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Restaurant Chatbot  |  IBM watsonx Assistant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 — 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Greeting the Guest with a Guided Main Menu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47672"/>
            <a:ext cx="109728" cy="109728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81965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guest opens the widget, the assistant greets them by name of the restaurant and surfaces a dropdown of everything it can help with.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816352"/>
            <a:ext cx="109728" cy="109728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68833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include Menu, Food Prices, Opening Hours, Table Reservation, Location and Offers — no typing required.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685032"/>
            <a:ext cx="109728" cy="109728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355701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button-first design keeps the conversation short and reduces failed matches from free-text queries.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051560"/>
            <a:ext cx="5212080" cy="5486400"/>
          </a:xfrm>
          <a:prstGeom prst="roundRect">
            <a:avLst>
              <a:gd name="adj" fmla="val 1754"/>
            </a:avLst>
          </a:prstGeom>
          <a:solidFill>
            <a:srgbClr val="1C1F2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051560"/>
            <a:ext cx="5212080" cy="457200"/>
          </a:xfrm>
          <a:prstGeom prst="roundRect">
            <a:avLst>
              <a:gd name="adj" fmla="val 20000"/>
            </a:avLst>
          </a:prstGeom>
          <a:solidFill>
            <a:srgbClr val="262A3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1380744"/>
            <a:ext cx="5212080" cy="128016"/>
          </a:xfrm>
          <a:prstGeom prst="rect">
            <a:avLst/>
          </a:prstGeom>
          <a:solidFill>
            <a:srgbClr val="262A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65392" y="1051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  Assistant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201400" y="1051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89136" y="1636776"/>
            <a:ext cx="2377440" cy="434340"/>
          </a:xfrm>
          <a:prstGeom prst="roundRect">
            <a:avLst>
              <a:gd name="adj" fmla="val 12632"/>
            </a:avLst>
          </a:prstGeom>
          <a:solidFill>
            <a:srgbClr val="3A3F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17152" y="1682496"/>
            <a:ext cx="212140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547104" y="2199132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11:06 PM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47104" y="2400300"/>
            <a:ext cx="4873752" cy="649224"/>
          </a:xfrm>
          <a:prstGeom prst="roundRect">
            <a:avLst>
              <a:gd name="adj" fmla="val 8451"/>
            </a:avLst>
          </a:prstGeom>
          <a:solidFill>
            <a:srgbClr val="23263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2446020"/>
            <a:ext cx="4617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Welcome to Foodie's Restaurant!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help you with: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47104" y="3177540"/>
            <a:ext cx="4892040" cy="1508760"/>
          </a:xfrm>
          <a:prstGeom prst="roundRect">
            <a:avLst>
              <a:gd name="adj" fmla="val 3636"/>
            </a:avLst>
          </a:prstGeom>
          <a:solidFill>
            <a:srgbClr val="23263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3223260"/>
            <a:ext cx="463600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option ▾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Menu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Food Prices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Opening Hours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Table Reservation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47104" y="5897880"/>
            <a:ext cx="4919472" cy="384048"/>
          </a:xfrm>
          <a:prstGeom prst="roundRect">
            <a:avLst>
              <a:gd name="adj" fmla="val 14286"/>
            </a:avLst>
          </a:prstGeom>
          <a:solidFill>
            <a:srgbClr val="14161B"/>
          </a:solidFill>
          <a:ln w="9525">
            <a:solidFill>
              <a:srgbClr val="3538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84264" y="5897880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something...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6281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IBM watsonx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Restaurant Chatbot  |  IBM watsonx Assistant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 —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Categories and Instant Price Ranges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47672"/>
            <a:ext cx="109728" cy="109728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81965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“Menu” returns the full list of categories — Starters, Main Course, Chinese Food, Desserts and more — in a single structured reply.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816352"/>
            <a:ext cx="109728" cy="109728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68833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“Food Prices” gives an approximate price range per category, so guests can gauge their bill before they even open the menu page.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685032"/>
            <a:ext cx="109728" cy="109728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355701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replies are generated from the dialog skill's static content nodes — fast, consistent, and easy to update.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051560"/>
            <a:ext cx="5212080" cy="5486400"/>
          </a:xfrm>
          <a:prstGeom prst="roundRect">
            <a:avLst>
              <a:gd name="adj" fmla="val 1754"/>
            </a:avLst>
          </a:prstGeom>
          <a:solidFill>
            <a:srgbClr val="1C1F2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051560"/>
            <a:ext cx="5212080" cy="457200"/>
          </a:xfrm>
          <a:prstGeom prst="roundRect">
            <a:avLst>
              <a:gd name="adj" fmla="val 20000"/>
            </a:avLst>
          </a:prstGeom>
          <a:solidFill>
            <a:srgbClr val="262A3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1380744"/>
            <a:ext cx="5212080" cy="128016"/>
          </a:xfrm>
          <a:prstGeom prst="rect">
            <a:avLst/>
          </a:prstGeom>
          <a:solidFill>
            <a:srgbClr val="262A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65392" y="1051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  Assistant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201400" y="1051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89136" y="1636776"/>
            <a:ext cx="2377440" cy="434340"/>
          </a:xfrm>
          <a:prstGeom prst="roundRect">
            <a:avLst>
              <a:gd name="adj" fmla="val 12632"/>
            </a:avLst>
          </a:prstGeom>
          <a:solidFill>
            <a:srgbClr val="3A3F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17152" y="1682496"/>
            <a:ext cx="212140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Prices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547104" y="2199132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11:06 PM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47104" y="2400300"/>
            <a:ext cx="4892040" cy="1508760"/>
          </a:xfrm>
          <a:prstGeom prst="roundRect">
            <a:avLst>
              <a:gd name="adj" fmla="val 3636"/>
            </a:avLst>
          </a:prstGeom>
          <a:solidFill>
            <a:srgbClr val="23263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2446020"/>
            <a:ext cx="463600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Here is our approximate price range: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Starters: ₹150–₹350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Course: ₹200–₹500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Biryani: ₹250–₹450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Beverages: ₹50–₹200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Desserts: ₹100–₹250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47104" y="5897880"/>
            <a:ext cx="4919472" cy="384048"/>
          </a:xfrm>
          <a:prstGeom prst="roundRect">
            <a:avLst>
              <a:gd name="adj" fmla="val 14286"/>
            </a:avLst>
          </a:prstGeom>
          <a:solidFill>
            <a:srgbClr val="14161B"/>
          </a:solidFill>
          <a:ln w="9525">
            <a:solidFill>
              <a:srgbClr val="3538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84264" y="5897880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something...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6281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IBM watsonx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Restaurant Chatbot  |  IBM watsonx Assistant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 — 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Table Reservation, Done in Chat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47672"/>
            <a:ext cx="109728" cy="109728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81965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“Book a table” starts a slot-filling dialog: the assistant asks for date, time and number of guests — one question at a time.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816352"/>
            <a:ext cx="109728" cy="109728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68833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reply is captured as an entity and carried through the conversation until every slot is filled.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685032"/>
            <a:ext cx="109728" cy="109728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355701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ends with an explicit confirmation message, so the guest leaves the chat certain their table is booked.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051560"/>
            <a:ext cx="5212080" cy="5486400"/>
          </a:xfrm>
          <a:prstGeom prst="roundRect">
            <a:avLst>
              <a:gd name="adj" fmla="val 1754"/>
            </a:avLst>
          </a:prstGeom>
          <a:solidFill>
            <a:srgbClr val="1C1F2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051560"/>
            <a:ext cx="5212080" cy="457200"/>
          </a:xfrm>
          <a:prstGeom prst="roundRect">
            <a:avLst>
              <a:gd name="adj" fmla="val 20000"/>
            </a:avLst>
          </a:prstGeom>
          <a:solidFill>
            <a:srgbClr val="262A3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1380744"/>
            <a:ext cx="5212080" cy="128016"/>
          </a:xfrm>
          <a:prstGeom prst="rect">
            <a:avLst/>
          </a:prstGeom>
          <a:solidFill>
            <a:srgbClr val="262A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65392" y="1051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  Assistant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201400" y="1051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89136" y="1636776"/>
            <a:ext cx="2377440" cy="297180"/>
          </a:xfrm>
          <a:prstGeom prst="roundRect">
            <a:avLst>
              <a:gd name="adj" fmla="val 18462"/>
            </a:avLst>
          </a:prstGeom>
          <a:solidFill>
            <a:srgbClr val="3A3F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17152" y="1682496"/>
            <a:ext cx="212140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table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547104" y="2007108"/>
            <a:ext cx="4919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11:08 PM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47104" y="2153412"/>
            <a:ext cx="4873752" cy="297180"/>
          </a:xfrm>
          <a:prstGeom prst="roundRect">
            <a:avLst>
              <a:gd name="adj" fmla="val 18462"/>
            </a:avLst>
          </a:prstGeom>
          <a:solidFill>
            <a:srgbClr val="23263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2199132"/>
            <a:ext cx="46177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Reservation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89136" y="2523744"/>
            <a:ext cx="2377440" cy="297180"/>
          </a:xfrm>
          <a:prstGeom prst="roundRect">
            <a:avLst>
              <a:gd name="adj" fmla="val 18462"/>
            </a:avLst>
          </a:prstGeom>
          <a:solidFill>
            <a:srgbClr val="3A3F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17152" y="2569464"/>
            <a:ext cx="212140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47104" y="2894076"/>
            <a:ext cx="4919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11:09 PM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47104" y="3040380"/>
            <a:ext cx="4873752" cy="297180"/>
          </a:xfrm>
          <a:prstGeom prst="roundRect">
            <a:avLst>
              <a:gd name="adj" fmla="val 18462"/>
            </a:avLst>
          </a:prstGeom>
          <a:solidFill>
            <a:srgbClr val="23263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75120" y="3086100"/>
            <a:ext cx="46177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89136" y="3410712"/>
            <a:ext cx="2377440" cy="297180"/>
          </a:xfrm>
          <a:prstGeom prst="roundRect">
            <a:avLst>
              <a:gd name="adj" fmla="val 18462"/>
            </a:avLst>
          </a:prstGeom>
          <a:solidFill>
            <a:srgbClr val="3A3F4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17152" y="3456432"/>
            <a:ext cx="212140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9pm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547104" y="3781044"/>
            <a:ext cx="4919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11:09 PM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47104" y="3927348"/>
            <a:ext cx="4873752" cy="297180"/>
          </a:xfrm>
          <a:prstGeom prst="roundRect">
            <a:avLst>
              <a:gd name="adj" fmla="val 18462"/>
            </a:avLst>
          </a:prstGeom>
          <a:solidFill>
            <a:srgbClr val="23263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75120" y="3973068"/>
            <a:ext cx="46177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guests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89136" y="4297680"/>
            <a:ext cx="2377440" cy="297180"/>
          </a:xfrm>
          <a:prstGeom prst="roundRect">
            <a:avLst>
              <a:gd name="adj" fmla="val 18462"/>
            </a:avLst>
          </a:prstGeom>
          <a:solidFill>
            <a:srgbClr val="3A3F4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17152" y="4343400"/>
            <a:ext cx="212140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47104" y="4668012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23263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75120" y="4713732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booking is successfully done.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booking.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47104" y="5897880"/>
            <a:ext cx="4919472" cy="384048"/>
          </a:xfrm>
          <a:prstGeom prst="roundRect">
            <a:avLst>
              <a:gd name="adj" fmla="val 14286"/>
            </a:avLst>
          </a:prstGeom>
          <a:solidFill>
            <a:srgbClr val="14161B"/>
          </a:solidFill>
          <a:ln w="9525">
            <a:solidFill>
              <a:srgbClr val="3538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84264" y="5897880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something...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0" y="6281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IBM watsonx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Restaurant Chatbot  |  IBM watsonx Assistant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 — 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Options and Directions on Demand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221992"/>
            <a:ext cx="109728" cy="109728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207568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“Delivery” surfaces every ordering channel — direct restaurant order, Swiggy and Zomato — with a note that availability depends on the guest's location.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182112"/>
            <a:ext cx="109728" cy="109728"/>
          </a:xfrm>
          <a:prstGeom prst="ellipse">
            <a:avLst/>
          </a:prstGeom>
          <a:solidFill>
            <a:srgbClr val="B844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303580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“Location” returns the restaurant's address and invites the guest to reach out for further directions.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two intents remove the two most common “where / how do I get my food” questions from staff workload.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005840"/>
            <a:ext cx="2743200" cy="5440680"/>
          </a:xfrm>
          <a:prstGeom prst="roundRect">
            <a:avLst>
              <a:gd name="adj" fmla="val 3333"/>
            </a:avLst>
          </a:prstGeom>
          <a:solidFill>
            <a:srgbClr val="1C1F2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00584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262A33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335024"/>
            <a:ext cx="2743200" cy="128016"/>
          </a:xfrm>
          <a:prstGeom prst="rect">
            <a:avLst/>
          </a:prstGeom>
          <a:solidFill>
            <a:srgbClr val="262A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36792" y="1005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  Assistant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1005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21270" y="1591056"/>
            <a:ext cx="1347826" cy="434340"/>
          </a:xfrm>
          <a:prstGeom prst="roundRect">
            <a:avLst>
              <a:gd name="adj" fmla="val 12632"/>
            </a:avLst>
          </a:prstGeom>
          <a:solidFill>
            <a:srgbClr val="3A3F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49286" y="1636776"/>
            <a:ext cx="109179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318504" y="215341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11:10 PM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18504" y="2354580"/>
            <a:ext cx="2423160" cy="1078992"/>
          </a:xfrm>
          <a:prstGeom prst="roundRect">
            <a:avLst>
              <a:gd name="adj" fmla="val 5085"/>
            </a:avLst>
          </a:prstGeom>
          <a:solidFill>
            <a:srgbClr val="23263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400300"/>
            <a:ext cx="216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🍱 Yes! We deliver via: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Order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Swiggy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Zomato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18504" y="5806440"/>
            <a:ext cx="2450592" cy="384048"/>
          </a:xfrm>
          <a:prstGeom prst="roundRect">
            <a:avLst>
              <a:gd name="adj" fmla="val 14286"/>
            </a:avLst>
          </a:prstGeom>
          <a:solidFill>
            <a:srgbClr val="14161B"/>
          </a:solidFill>
          <a:ln w="9525">
            <a:solidFill>
              <a:srgbClr val="3538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55664" y="58064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something...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6190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IBM watsonx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52560" y="1005840"/>
            <a:ext cx="2743200" cy="5440680"/>
          </a:xfrm>
          <a:prstGeom prst="roundRect">
            <a:avLst>
              <a:gd name="adj" fmla="val 3333"/>
            </a:avLst>
          </a:prstGeom>
          <a:solidFill>
            <a:srgbClr val="1C1F26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52560" y="100584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262A33"/>
          </a:solidFill>
          <a:ln/>
        </p:spPr>
      </p:sp>
      <p:sp>
        <p:nvSpPr>
          <p:cNvPr id="24" name="Shape 22"/>
          <p:cNvSpPr/>
          <p:nvPr/>
        </p:nvSpPr>
        <p:spPr>
          <a:xfrm>
            <a:off x="9052560" y="1335024"/>
            <a:ext cx="2743200" cy="128016"/>
          </a:xfrm>
          <a:prstGeom prst="rect">
            <a:avLst/>
          </a:prstGeom>
          <a:solidFill>
            <a:srgbClr val="262A3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17152" y="1005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  Assistant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384280" y="1005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301630" y="1591056"/>
            <a:ext cx="1347826" cy="434340"/>
          </a:xfrm>
          <a:prstGeom prst="roundRect">
            <a:avLst>
              <a:gd name="adj" fmla="val 12632"/>
            </a:avLst>
          </a:prstGeom>
          <a:solidFill>
            <a:srgbClr val="3A3F4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429646" y="1636776"/>
            <a:ext cx="109179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198864" y="215341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11:13 PM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98864" y="2354580"/>
            <a:ext cx="2423160" cy="864108"/>
          </a:xfrm>
          <a:prstGeom prst="roundRect">
            <a:avLst>
              <a:gd name="adj" fmla="val 6349"/>
            </a:avLst>
          </a:prstGeom>
          <a:solidFill>
            <a:srgbClr val="23263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326880" y="2400300"/>
            <a:ext cx="2167128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Foodie's Restaurant is at: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15, Gurugram,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198864" y="5806440"/>
            <a:ext cx="2450592" cy="384048"/>
          </a:xfrm>
          <a:prstGeom prst="roundRect">
            <a:avLst>
              <a:gd name="adj" fmla="val 14286"/>
            </a:avLst>
          </a:prstGeom>
          <a:solidFill>
            <a:srgbClr val="14161B"/>
          </a:solidFill>
          <a:ln w="9525">
            <a:solidFill>
              <a:srgbClr val="3538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36024" y="58064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something...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052560" y="6190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IBM watsonx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Restaurant Chatbot  |  IBM watsonx Assistant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Assistant Delivers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62A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Intents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Greeting, menu, prices, hours, reservation and delivery flows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62A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8328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Dialogs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429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Slot-filling flows for reservation, delivery and location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62A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Widget, Every Page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429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embed persists across the entire Foodie site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62A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5256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429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EB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get answers outside staffed hours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09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flow shown in this deck — menu lookup, price lookup, table reservation and delivery/location queries — was tested end-to-end directly inside the deployed website widget.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Restaurant Chatbot  |  IBM watsonx Assistant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and Key Learnings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4248"/>
            <a:ext cx="457200" cy="457200"/>
          </a:xfrm>
          <a:prstGeom prst="ellipse">
            <a:avLst/>
          </a:prstGeom>
          <a:solidFill>
            <a:srgbClr val="1C1F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4767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natural dialog trees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048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free-text intents with guided buttons took several iterations to avoid dead-end conversations.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84248"/>
            <a:ext cx="457200" cy="457200"/>
          </a:xfrm>
          <a:prstGeom prst="ellipse">
            <a:avLst/>
          </a:prstGeom>
          <a:solidFill>
            <a:srgbClr val="1C1F2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4767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Slot-filling for reservations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4048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date, time and guest count reliably meant carefully scoping entities and re-prompting on invalid input.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721608"/>
            <a:ext cx="457200" cy="457200"/>
          </a:xfrm>
          <a:prstGeom prst="ellipse">
            <a:avLst/>
          </a:prstGeom>
          <a:solidFill>
            <a:srgbClr val="1C1F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68503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the widget correctly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14223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watsonx web chat script to load cleanly inside a custom-built HTML/CSS site required matching container and script placement.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5204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721608"/>
            <a:ext cx="457200" cy="457200"/>
          </a:xfrm>
          <a:prstGeom prst="ellipse">
            <a:avLst/>
          </a:prstGeom>
          <a:solidFill>
            <a:srgbClr val="1C1F2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68503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replies on-brand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14223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tone and emoji use in bot responses so the assistant felt like an extension of Foodie's Restaurant, not a generic bot.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Restaurant Chatbot  |  IBM watsonx Assistant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931920"/>
            <a:ext cx="4572000" cy="4572000"/>
          </a:xfrm>
          <a:prstGeom prst="ellipse">
            <a:avLst/>
          </a:prstGeom>
          <a:solidFill>
            <a:srgbClr val="8F3520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Assistant, With Room to Grow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watsonx Assistant chatbot now handles Foodie's Restaurant's most common guest questions end-to-end, live inside the website — proving the concept from IBM Cloud dialog skill to embedded widget.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80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live order/inventory data so menu and price answers update automatically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55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558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order placement inside the chat, not just delivery-channel links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313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3133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table availability instead of a fixed confirmation reply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068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3068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chat analytics to see which intents guests use most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394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Dipanshu  |  MBA, Mittal School of Business, LPU  |  Reg. No. 12508450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2026-09-04T18:48:57Z</dcterms:created>
  <dcterms:modified xsi:type="dcterms:W3CDTF">2026-09-04T18:48:57Z</dcterms:modified>
</cp:coreProperties>
</file>